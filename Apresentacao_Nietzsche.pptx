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FRIEDRICH NIETZSCHE</a:t>
            </a:r>
          </a:p>
          <a:p>
            <a:pPr algn="ctr">
              <a:defRPr sz="2800">
                <a:solidFill>
                  <a:srgbClr val="C8C8C8"/>
                </a:solidFill>
              </a:defRPr>
            </a:pPr>
            <a:r>
              <a:t>O Filósofo do Martelo (1844 – 1900)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114800"/>
            <a:ext cx="8531352" cy="1371600"/>
          </a:xfrm>
          <a:prstGeom prst="roundRect">
            <a:avLst/>
          </a:prstGeom>
          <a:solidFill>
            <a:srgbClr val="0F141E"/>
          </a:solidFill>
          <a:ln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i="1">
                <a:solidFill>
                  <a:srgbClr val="64B4FF"/>
                </a:solidFill>
              </a:defRPr>
            </a:pPr>
            <a:r>
              <a:t>"E se a vida que você vive hoje se repetisse idêntica pela eternidade?</a:t>
            </a:r>
            <a:br/>
            <a:r>
              <a:t>Você a viveria com alegria ou desespero?"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000"/>
                </a:solidFill>
              </a:defRPr>
            </a:pPr>
            <a:r>
              <a:t>O Homem por Trás do Martelo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</a:defRPr>
            </a:pPr>
            <a:r>
              <a:t>• Contexto Histórico: Século XIX. O apogeu da ciência e da razão na Europa e o declínio vertiginoso da religião tradicional.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</a:defRPr>
            </a:pPr>
            <a:r>
              <a:t>• Prodígio Intelectual: Nascido na Prússia, foi um gênio precoce. Tornou-se professor universitário de filologia (estudo de textos antigos) aos 24 anos.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</a:defRPr>
            </a:pPr>
            <a:r>
              <a:t>• A Vida Errante: Devido à saúde extremamente frágil (fortes enxaquecas e problemas de visão), abandonou a academia e viveu viajando pelos Alpes, escrevendo de forma intensa.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</a:defRPr>
            </a:pPr>
            <a:r>
              <a:t>• O Fim Trágico: Sofreu um colapso mental severo em 1889 nas ruas de Turim, Itália. Passou seus últimos 11 anos alienado, cuidado por sua irmã (que mais tarde distorceu seus textos).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000"/>
                </a:solidFill>
              </a:defRPr>
            </a:pPr>
            <a:r>
              <a:t>O Abismo do Niilismo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O que acontece com a humanidade quando as velhas "Verdades Absolutas" desaparecem?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9445752" cy="2926080"/>
          </a:xfrm>
          <a:prstGeom prst="roundRect">
            <a:avLst/>
          </a:prstGeom>
          <a:solidFill>
            <a:srgbClr val="1E283C"/>
          </a:solidFill>
          <a:ln>
            <a:solidFill>
              <a:srgbClr val="FF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C000"/>
                </a:solidFill>
              </a:defRPr>
            </a:pPr>
            <a:r>
              <a:t>O Diagnóstico de uma Era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Com o avanço da ciência e do iluminismo, a base que sustentava a moralidade humana (Deus, as religiões, a tradição) ruiu. Nietzsche percebeu que isso geraria uma crise sem precedentes.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O perigo iminente era o NIILISMO (do latim nihil, "nada"): a crença assustadora de que a vida não tem nenhum sentido, nenhum valor intrínseco e nenhum propósito superior.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64B4FF"/>
                </a:solidFill>
              </a:defRPr>
            </a:pPr>
            <a:r>
              <a:t>Como o ser humano pode evitar o desespero e encontrar força para viver em um universo vazio de sentidos prontos?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000"/>
                </a:solidFill>
              </a:defRPr>
            </a:pPr>
            <a:r>
              <a:t>A Transvaloração dos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 resposta de Nietzsche para o abismo do Niilismo é radical. Se não existem valores absolutos flutuando no universo esperando para serem descobertos, nós devemos criá-los.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5303520" cy="3657600"/>
          </a:xfrm>
          <a:prstGeom prst="rect">
            <a:avLst/>
          </a:prstGeom>
          <a:solidFill>
            <a:srgbClr val="1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FFC000"/>
                </a:solidFill>
              </a:defRPr>
            </a:pPr>
            <a:r>
              <a:t>🚫 O Problema Atual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Vivemos sob uma "Moral de Rebanho" (herança cultural europeia) que reprime os instintos, valoriza a fraqueza, a obediência e promete recompensas apenas em uma "vida após a morte", negando a vida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2560320"/>
            <a:ext cx="5303520" cy="3657600"/>
          </a:xfrm>
          <a:prstGeom prst="rect">
            <a:avLst/>
          </a:prstGeom>
          <a:solidFill>
            <a:srgbClr val="16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FFC000"/>
                </a:solidFill>
              </a:defRPr>
            </a:pPr>
            <a:r>
              <a:t>🔨 A Solução Proposta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É preciso filosofar "com o martelo": destruir as velhas ilusões morais e realizar a Transvaloração. O indivíduo não deve buscar ser "bom" segundo o rebanho, mas deve afirmar a vida em sua totalidade, aceitando a dor e o prazer, tornando-se o autor do seu próprio destino.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000"/>
                </a:solidFill>
              </a:defRPr>
            </a:pPr>
            <a:r>
              <a:t>Vocabulário Nietzscheano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377440"/>
          </a:xfrm>
          <a:prstGeom prst="roundRect">
            <a:avLst/>
          </a:prstGeom>
          <a:solidFill>
            <a:srgbClr val="1E283C"/>
          </a:solidFill>
          <a:ln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1. A Morte de Deus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Não é uma comemoração de ateus, mas a constatação de um evento cultural. A "Morte de Deus" significa o fim das garantias absolutas. Não há mais um fundamento inquestionável para a moralidade e para a verdade.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486400" cy="2377440"/>
          </a:xfrm>
          <a:prstGeom prst="roundRect">
            <a:avLst/>
          </a:prstGeom>
          <a:solidFill>
            <a:srgbClr val="1E283C"/>
          </a:solidFill>
          <a:ln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2. Vontade de Potência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 força motriz essencial de tudo que vive. Não é o desejo de poder político para dominar os outros, mas o instinto vital de crescer, expandir-se, criar, superar obstáculos e se tornar mais forte.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5486400" cy="2377440"/>
          </a:xfrm>
          <a:prstGeom prst="roundRect">
            <a:avLst/>
          </a:prstGeom>
          <a:solidFill>
            <a:srgbClr val="1E283C"/>
          </a:solidFill>
          <a:ln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3. Eterno Retorno &amp; Amor Fati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O teste supremo: viver de tal modo que você desejaria que sua vida se repetisse eternamente. O Amor Fati (Amor ao Destino) é abraçar alegremente a vida exatamente como ela é, com suas dores e glórias.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486400" cy="2377440"/>
          </a:xfrm>
          <a:prstGeom prst="roundRect">
            <a:avLst/>
          </a:prstGeom>
          <a:solidFill>
            <a:srgbClr val="1E283C"/>
          </a:solidFill>
          <a:ln>
            <a:solidFill>
              <a:srgbClr val="32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4. O Übermensch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Traduzido como "Além-do-Homem" ou "Super-Homem". É o indivíduo livre que superou a moral do rebanho, não sente ressentimento pela vida, cria seus próprios valores e vive guiado por sua vontade de potência.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C000"/>
                </a:solidFill>
              </a:defRPr>
            </a:pPr>
            <a:r>
              <a:t>O Processo de Superação do Espírito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Em sua obra Assim Falava Zaratustra, Nietzsche utiliza três metáforas brilhantes para explicar como o ser humano abandona o "rebanho" para se tornar criador de si mesmo.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3657600" cy="3840480"/>
          </a:xfrm>
          <a:prstGeom prst="roundRect">
            <a:avLst/>
          </a:prstGeom>
          <a:solidFill>
            <a:srgbClr val="1E283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1. O Camelo</a:t>
            </a: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t>"Tu deves!"</a:t>
            </a:r>
            <a:br/>
            <a:r>
              <a:t>O espírito de carga. É forte, mas submisso. Aceita carregar as tradições, a moral da sociedade, os medos e as obrigações impostas pelos outros. Suporta o peso do passado no deserto do niilismo.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560320"/>
            <a:ext cx="3657600" cy="3840480"/>
          </a:xfrm>
          <a:prstGeom prst="roundRect">
            <a:avLst/>
          </a:prstGeom>
          <a:solidFill>
            <a:srgbClr val="1E283C"/>
          </a:solidFill>
          <a:ln>
            <a:solidFill>
              <a:srgbClr val="FF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2. O Leão</a:t>
            </a: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t>"Eu quero!"</a:t>
            </a:r>
            <a:br/>
            <a:r>
              <a:t>O espírito da revolta. O camelo se transforma em leão no deserto para enfrentar o dragão dos velhos valores. Ele destrói a submissão, conquista a liberdade e o espaço para a novidade, mas ainda não sabe criar.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560320"/>
            <a:ext cx="3657600" cy="3840480"/>
          </a:xfrm>
          <a:prstGeom prst="roundRect">
            <a:avLst/>
          </a:prstGeom>
          <a:solidFill>
            <a:srgbClr val="1E283C"/>
          </a:solidFill>
          <a:ln>
            <a:solidFill>
              <a:srgbClr val="32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3. A Criança</a:t>
            </a:r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t>"Eu sou!"</a:t>
            </a:r>
            <a:br/>
            <a:r>
              <a:t>O espírito criador (O Übermensch). A criança é a inocência, o esquecimento das velhas regras, um recomeço sagrado. É o jogo criativo de inventar a própria vida e seus novos valores com alegria.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000"/>
                </a:solidFill>
              </a:defRPr>
            </a:pPr>
            <a:r>
              <a:t>Na Prática: A Escolha do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 Situação: Rafael, 17 anos, gosta de artes e tecnologia, mas sofre forte pressão para cursar Direito, pois é o que sua família considera "seguro e respeitável".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1274552" cy="137160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👥 A Ótica do Rebanho</a:t>
            </a:r>
            <a:br/>
            <a:r>
              <a:t>Rafael cede à pressão por medo do julgamento. Escolhe o caminho seguro para não causar conflitos. Foge do sofrimento da desaprovação, mas anula seus próprios instintos e vive uma vida burocrática e ressentida.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4552" cy="137160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⚡ A Ótica Nietzscheana (Vontade de Potência)</a:t>
            </a:r>
            <a:br/>
            <a:r>
              <a:t>Rafael se torna o "Leão", rompe com a imposição externa ("Tu Deves") e assume o risco de sua escolha autêntica. Ele entende que a verdadeira grandeza exige suportar a dor do conflito para esculpir sua própria obra (sua vida).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4B4FF"/>
                </a:solidFill>
              </a:defRPr>
            </a:pPr>
            <a:r>
              <a:t>Conclusão: A vida autêntica não é a mais pacífica. Ela exige coragem para decepcionar os outros em nome de se tornar quem você realmente 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000"/>
                </a:solidFill>
              </a:defRPr>
            </a:pPr>
            <a:r>
              <a:t>Diálogo e Controvérsias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O Choque: Kant vs. Nietzsche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Dois gigantes da filosofia alemã com visões opostas sobre como devemos agir.</a:t>
            </a:r>
            <a:br/>
            <a:br/>
            <a:r>
              <a:t>Ponto em Comum: Ambos defendem a autonomia humana (guiar a si mesmo, sair da menoridade).</a:t>
            </a:r>
            <a:br/>
            <a:br/>
            <a:r>
              <a:t>A Grande Divergência:</a:t>
            </a:r>
            <a:br/>
            <a:r>
              <a:t>• Immanuel Kant: Defende uma regra universal e racional para todos (O Imperativo Categórico). A moral é dever e obediência à razão.</a:t>
            </a:r>
            <a:br/>
            <a:r>
              <a:t>• Friedrich Nietzsche: Rejeita qualquer regra universal. Uma moral que serve para todos é moral de rebanho. Cada indivíduo forte deve criar sua própria lei.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Principais Críticas e Mitos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⚠️ O Mito do Nazismo</a:t>
            </a:r>
            <a:br/>
            <a:r>
              <a:t>Nietzsche não era nazista ou antissemita (ele repudiava fortemente o nacionalismo). Após sua morte, sua irmã, Elisabeth, filiada ao nazismo, falsificou e publicou trechos de seus diários para agradar ao Terceiro Reich.</a:t>
            </a:r>
            <a:br/>
            <a:br/>
            <a:r>
              <a:t>🔨 Críticas Acadêmicas</a:t>
            </a:r>
            <a:br/>
            <a:r>
              <a:t>• Elitismo extremo: Seu profundo desdém pelas massas (o "rebanho") torna difícil aplicar suas ideias para construir uma sociedade democrática.</a:t>
            </a:r>
            <a:br/>
            <a:r>
              <a:t>• Falta de projeto coletivo: É um pensador focado na salvação individual. Não oferece soluções para a injustiça social sistêmica.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000"/>
                </a:solidFill>
              </a:defRPr>
            </a:pPr>
            <a:r>
              <a:t>Por que ler Nietzsche Hoje?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C000"/>
                </a:solidFill>
              </a:defRPr>
            </a:pPr>
            <a:r>
              <a:t>Impacto Histórico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Psicanálise: Antecipou as descobertas de Freud e Jung sobre a força do inconsciente e dos instintos reprimidos na mente humana.</a:t>
            </a:r>
            <a:br/>
            <a:br/>
            <a:r>
              <a:t>• Existencialismo: Abriu as portas para Sartre e Camus, ao declarar que a vida não tem um sentido pré-determinado, obrigando o homem a ser livre e responsável.</a:t>
            </a:r>
            <a:br/>
            <a:br/>
            <a:r>
              <a:t>• Filosofia Contemporânea: Inspirou pensadores como Foucault a investigar como a "Verdade" é muitas vezes apenas uma máscara para o poder.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61E2D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C000"/>
                </a:solidFill>
              </a:defRPr>
            </a:pPr>
            <a:r>
              <a:t>O Antídoto Moderno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Nietzsche é incrivelmente atual para o jovem do século XXI porque atua como um choque contra os males modernos:</a:t>
            </a:r>
            <a:br/>
            <a:br/>
            <a:r>
              <a:t>✓ Contra a positividade tóxica: Ensina que o sofrimento não deve ser escondido, mas transformado em ferramenta de grandeza (Amor Fati).</a:t>
            </a:r>
            <a:br/>
            <a:br/>
            <a:r>
              <a:t>✓ Contra as redes sociais: Denuncia a mentalidade de "rebanho" dos algoritmos, os "cancelamentos" por medo da maioria e a busca desesperada por aceitação.</a:t>
            </a:r>
            <a:br/>
            <a:br/>
            <a:r>
              <a:t>✓ Contra o vazio: Exige que abandonemos a apatia e assumamos a postura de artistas criando a grande obra que é a nossa própria vida.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3657600" cy="91440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1 FRASE DE OURO</a:t>
            </a:r>
            <a:br/>
            <a:r>
              <a:t>"Torna-te quem tu és."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657600" cy="182880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3 IDEIAS FUNDAMENTAIS</a:t>
            </a:r>
            <a:br/>
            <a:r>
              <a:t>1. A crise moral (Niilismo) exige ação.</a:t>
            </a:r>
            <a:br/>
            <a:r>
              <a:t>2. A vida deve ser afirmada (não negada).</a:t>
            </a:r>
            <a:br/>
            <a:r>
              <a:t>3. Autossuperação e criação de valores.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566160"/>
            <a:ext cx="3657600" cy="283464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5 CONCEITOS-CHAVE</a:t>
            </a:r>
            <a:br/>
            <a:r>
              <a:t>• Morte de Deus</a:t>
            </a:r>
            <a:br/>
            <a:r>
              <a:t>• Vontade de Potência</a:t>
            </a:r>
            <a:br/>
            <a:r>
              <a:t>• Niilismo</a:t>
            </a:r>
            <a:br/>
            <a:r>
              <a:t>• Amor Fati</a:t>
            </a:r>
            <a:br/>
            <a:r>
              <a:t>• Übermensch (Além-do-Homem)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457200"/>
            <a:ext cx="7315200" cy="5943600"/>
          </a:xfrm>
          <a:prstGeom prst="roundRect">
            <a:avLst/>
          </a:prstGeom>
          <a:solidFill>
            <a:srgbClr val="1E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FFC000"/>
                </a:solidFill>
              </a:defRPr>
            </a:pPr>
            <a:r>
              <a:t>Teste sua Compreensão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1. O que Nietzsche diagnosticou com a frase "Deus está morto"?</a:t>
            </a:r>
            <a:br/>
            <a:r>
              <a:t>(A) Um evento biológico e científico.  (B) O fim da religião.</a:t>
            </a:r>
            <a:br/>
            <a:r>
              <a:t>(C) O colapso dos fundamentos absolutos e morais.</a:t>
            </a:r>
            <a:br/>
            <a:br/>
            <a:r>
              <a:t>2. Na filosofia nietzscheana, a "Vontade de Potência" é:</a:t>
            </a:r>
            <a:br/>
            <a:r>
              <a:t>(A) O desejo egoísta de dominar. (B) A força vital de autossuperação.</a:t>
            </a:r>
            <a:br/>
            <a:br/>
            <a:r>
              <a:t>3. O que caracteriza o conceito de "Amor Fati"?</a:t>
            </a:r>
            <a:br/>
            <a:r>
              <a:t>(A) Amar apenas alegrias. (B) Amar o destino, abraçando alegremente a vida, inclusive a dor.</a:t>
            </a:r>
            <a:br/>
            <a:br/>
            <a:r>
              <a:t>4. Qual é a principal crítica de Nietzsche à "Moral de Rebanho"?</a:t>
            </a:r>
            <a:br/>
            <a:r>
              <a:t>(A) Ela nega a vida real e glorifica a submissão. (B) Ela exige força extrema.</a:t>
            </a:r>
            <a:br/>
            <a:br/>
            <a:r>
              <a:t>5. A metáfora do "Leão" representa:</a:t>
            </a:r>
            <a:br/>
            <a:r>
              <a:t>(A) A aceitação passiva. (B) O espírito de revolta que diz "Eu quero".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5669280"/>
            <a:ext cx="7315200" cy="457200"/>
          </a:xfrm>
          <a:prstGeom prst="rect">
            <a:avLst/>
          </a:prstGeom>
          <a:solidFill>
            <a:srgbClr val="161E2D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C000"/>
                </a:solidFill>
              </a:defRPr>
            </a:pPr>
            <a:r>
              <a:t>GABARITO: 1-C | 2-B | 3-B | 4-A | 5-B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C000"/>
                </a:solidFill>
              </a:defRPr>
            </a:pPr>
            <a:r>
              <a:t>Image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As imagens usadas na apresentação original pertencem a seus respectivos criadores e fontes:</a:t>
            </a:r>
            <a:br/>
            <a:br/>
            <a:r>
              <a:t>• Retrato de Nietzsche: etsy.com</a:t>
            </a:r>
            <a:br/>
            <a:r>
              <a:t>• Caminhante sobre o mar de névoa (Caspar David Friedrich): mydailyartdisplay.uk</a:t>
            </a:r>
            <a:br/>
            <a:r>
              <a:t>• Imagem da montanha (IA): craiyon.com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